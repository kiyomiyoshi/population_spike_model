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9" r:id="rId4"/>
    <p:sldId id="258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1A1C"/>
    <a:srgbClr val="F2F2F2"/>
    <a:srgbClr val="1F78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1A7915-2223-0133-9DE1-E175A1606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F051D25-BF9D-F006-796A-57B876FB1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047104-8F28-27CD-2251-9BEB99897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9B42-5818-4541-9667-91B0E0B3085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D069BD-C8FD-DB2A-6B86-B68F0B459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F9E668-D928-322D-BD2C-1A54B2872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DED54-902F-4F8A-AE30-39E015A6E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0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D8AFE1-A490-28A1-E95A-88F2978A5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7964AF-6414-BF9E-900F-206596682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359B1C-652C-44CF-0577-97FD7D675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9B42-5818-4541-9667-91B0E0B3085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746293-27C3-E90A-8CD6-C799BEA0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87070B-8AF9-9DC0-CD24-9F10B0BB5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DED54-902F-4F8A-AE30-39E015A6E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00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D24C06-F591-21B2-D2CF-0D63323F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B66B93-4B8A-FE40-2957-00F73192C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D66C70-0B16-8C28-2278-D073676A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9B42-5818-4541-9667-91B0E0B3085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A51DC9-047A-CAD5-AAF6-189B30C11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4F1BB6-09CC-9540-6BE6-7722893F7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DED54-902F-4F8A-AE30-39E015A6E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8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AAE03D-E39A-9556-82B1-F32C0474C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6988BB-B7BB-3C3B-A4F5-4E1B369D00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FF23D3B-46E6-4BE0-E957-24B44C800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E698FE-8F00-7B68-1DC5-91E9314C3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9B42-5818-4541-9667-91B0E0B3085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6BF5063-8D75-1922-6F35-F60AF27B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C2484E-AB18-5B45-4F8C-A5DD8E60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DED54-902F-4F8A-AE30-39E015A6E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A2FCD9-E02D-8025-501F-EF1773694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935A0B-C652-F666-4F7E-46F32E50C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DB80D90-269D-E82D-B0B3-CF81CFF79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1A9176F-FFEE-DBAE-7197-BC9D13663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29C644F-807C-1978-8348-A35935727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676C592-4CAA-3128-9094-A16E38C80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9B42-5818-4541-9667-91B0E0B3085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47763C3-BB53-9272-A82E-5D69A7FF4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C7B3EF2-B589-26A0-FBD3-21747146F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DED54-902F-4F8A-AE30-39E015A6E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92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9F667B-713E-D074-016E-B12A7D8EF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6F6685F-CAFA-0EF3-8178-A0A9172E9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9B42-5818-4541-9667-91B0E0B3085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EF143C6-BD8A-7894-EE6C-3CF22C629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F84CCD0-D459-3E13-3F73-12FD09D6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DED54-902F-4F8A-AE30-39E015A6E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66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865C9C0-05D9-BFDF-7288-874B142F0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9B42-5818-4541-9667-91B0E0B3085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4B7B508-D397-3A42-0AA8-A5A2B3513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3EB89B-98F6-94D3-0879-7F40610C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DED54-902F-4F8A-AE30-39E015A6E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60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C16682-446C-AE88-AF7B-99F1EC317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C99266-8A05-ABC5-0DDE-B88E08FFD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8F917B4-2A22-E563-19A2-DA9A4E9BC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5AD5D5-FF67-8A7B-525F-614F30DB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9B42-5818-4541-9667-91B0E0B3085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0AAC22-CDF1-8694-E6C0-36B3D94C3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294EF6-A732-5B93-90C6-998366F7D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DED54-902F-4F8A-AE30-39E015A6E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751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23C129-3ADC-FE11-9EA6-E34F04267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F2D76C1-2863-583A-C5DF-4A70D36F6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9E2B594-322D-E464-B679-98194754B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2909C1-1C0A-6CC2-AE54-8AB4EB11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9B42-5818-4541-9667-91B0E0B3085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06942C-1EA9-B093-2938-4D338CAC7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00B9D2-D6C7-954A-110A-06737092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DED54-902F-4F8A-AE30-39E015A6E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229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6FCD99-EB46-3235-7F39-3B98C744D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9F9263D-21DE-FFA2-EDC7-670AE5683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8A8F15-0AD9-3EA1-1A68-58DAF26E2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9B42-5818-4541-9667-91B0E0B3085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1683E6-3862-88A2-D718-D8E5178D7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01D675-AD91-EB17-7B60-6185467B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DED54-902F-4F8A-AE30-39E015A6E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173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922FF6C-AD5E-73EE-61C0-AAD54856E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BA51795-12E5-3659-DBE1-D0F76DF7A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7FBFFD-CCA3-D955-0088-226E7A250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D9B42-5818-4541-9667-91B0E0B3085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1D7A5E-30F4-4BC2-9870-97DF6DB4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DB22FB-595B-8C21-C04B-7518244C2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DED54-902F-4F8A-AE30-39E015A6E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73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2F963C9-C1B4-20C4-112D-3FCCC5136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132817-0446-7DE6-F81B-8CE60460E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8D6DD6-5101-8577-904C-3EFD55E21D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AD9B42-5818-4541-9667-91B0E0B3085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CB6428-D977-5014-DA4B-13E90EC46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4E705D-2AF9-0152-CE52-1ECD474B0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DED54-902F-4F8A-AE30-39E015A6E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2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F9E39-46BD-89B6-D29E-F50ACE364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3090E142-3308-C150-2ED6-82ACDDBDC1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124"/>
          <a:stretch>
            <a:fillRect/>
          </a:stretch>
        </p:blipFill>
        <p:spPr>
          <a:xfrm>
            <a:off x="0" y="10681"/>
            <a:ext cx="12192000" cy="186084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F6FCF1D-82E4-4286-3CD8-CE013757DC89}"/>
              </a:ext>
            </a:extLst>
          </p:cNvPr>
          <p:cNvSpPr txBox="1"/>
          <p:nvPr/>
        </p:nvSpPr>
        <p:spPr>
          <a:xfrm>
            <a:off x="85814" y="7526"/>
            <a:ext cx="4409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(a)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219BDCD-48C6-1B95-ED30-4098FDF2E5C8}"/>
              </a:ext>
            </a:extLst>
          </p:cNvPr>
          <p:cNvSpPr txBox="1"/>
          <p:nvPr/>
        </p:nvSpPr>
        <p:spPr>
          <a:xfrm>
            <a:off x="72949" y="1936878"/>
            <a:ext cx="4409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(b)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AC4A9BD-F1D7-8423-8890-429B07CE8E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63" r="49653" b="9185"/>
          <a:stretch>
            <a:fillRect/>
          </a:stretch>
        </p:blipFill>
        <p:spPr>
          <a:xfrm>
            <a:off x="2534994" y="2678329"/>
            <a:ext cx="1139962" cy="945884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0ADCC3B-B334-A2CE-5A45-84F05B0DC796}"/>
              </a:ext>
            </a:extLst>
          </p:cNvPr>
          <p:cNvSpPr txBox="1"/>
          <p:nvPr/>
        </p:nvSpPr>
        <p:spPr>
          <a:xfrm>
            <a:off x="2472545" y="2236340"/>
            <a:ext cx="137933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high confidence</a:t>
            </a:r>
            <a:b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low visibility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1E0F62C9-6DEA-349D-4BE9-EF08ED6B94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100" t="7263" r="4500" b="9185"/>
          <a:stretch>
            <a:fillRect/>
          </a:stretch>
        </p:blipFill>
        <p:spPr>
          <a:xfrm>
            <a:off x="3894706" y="2678329"/>
            <a:ext cx="1027934" cy="945884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72B62E7-7CC7-A192-F040-FBE700A00062}"/>
              </a:ext>
            </a:extLst>
          </p:cNvPr>
          <p:cNvSpPr txBox="1"/>
          <p:nvPr/>
        </p:nvSpPr>
        <p:spPr>
          <a:xfrm>
            <a:off x="3756747" y="2236340"/>
            <a:ext cx="130750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low confidence</a:t>
            </a:r>
            <a:b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high visibility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CCFFF7A-F651-AF97-D5F2-E819A1CE822F}"/>
              </a:ext>
            </a:extLst>
          </p:cNvPr>
          <p:cNvSpPr txBox="1"/>
          <p:nvPr/>
        </p:nvSpPr>
        <p:spPr>
          <a:xfrm>
            <a:off x="542483" y="1943952"/>
            <a:ext cx="4351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Clockwise vs. counter-clockwise discrimination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8321CB7D-8B39-B345-B77F-4B3028588B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745" r="79169" b="4030"/>
          <a:stretch>
            <a:fillRect/>
          </a:stretch>
        </p:blipFill>
        <p:spPr>
          <a:xfrm>
            <a:off x="0" y="2221368"/>
            <a:ext cx="2539671" cy="15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986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E4943650-F3AF-9C7D-97F8-F58A28978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32" t="25651" r="-188" b="28603"/>
          <a:stretch>
            <a:fillRect/>
          </a:stretch>
        </p:blipFill>
        <p:spPr>
          <a:xfrm>
            <a:off x="9948222" y="4572645"/>
            <a:ext cx="1860976" cy="860677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099F3381-D7C5-C2B6-B869-D75BDC48D0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" t="25651" r="48491" b="28603"/>
          <a:stretch>
            <a:fillRect/>
          </a:stretch>
        </p:blipFill>
        <p:spPr>
          <a:xfrm>
            <a:off x="9844933" y="3007648"/>
            <a:ext cx="1931172" cy="860677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EEDE15D-FAAF-857F-DD14-154C5BE0AE4C}"/>
              </a:ext>
            </a:extLst>
          </p:cNvPr>
          <p:cNvSpPr/>
          <p:nvPr/>
        </p:nvSpPr>
        <p:spPr>
          <a:xfrm>
            <a:off x="9972867" y="4109363"/>
            <a:ext cx="1716442" cy="1334209"/>
          </a:xfrm>
          <a:prstGeom prst="rect">
            <a:avLst/>
          </a:prstGeom>
          <a:noFill/>
          <a:ln w="19050">
            <a:solidFill>
              <a:srgbClr val="E41A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DCA8083-128F-1E22-F9E7-6918A2AF32E6}"/>
              </a:ext>
            </a:extLst>
          </p:cNvPr>
          <p:cNvSpPr txBox="1"/>
          <p:nvPr/>
        </p:nvSpPr>
        <p:spPr>
          <a:xfrm>
            <a:off x="10093734" y="2535267"/>
            <a:ext cx="15171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Contrast = 15%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09219C3-6F2C-6073-009B-EDB7553AB424}"/>
              </a:ext>
            </a:extLst>
          </p:cNvPr>
          <p:cNvSpPr txBox="1"/>
          <p:nvPr/>
        </p:nvSpPr>
        <p:spPr>
          <a:xfrm>
            <a:off x="10093734" y="4108411"/>
            <a:ext cx="15171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Contrast = 25%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823C3BF-5A49-D127-24FE-0CD687211767}"/>
              </a:ext>
            </a:extLst>
          </p:cNvPr>
          <p:cNvSpPr txBox="1"/>
          <p:nvPr/>
        </p:nvSpPr>
        <p:spPr>
          <a:xfrm>
            <a:off x="10036584" y="2790988"/>
            <a:ext cx="99818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500" b="1" dirty="0">
                <a:solidFill>
                  <a:srgbClr val="1F78B4"/>
                </a:solidFill>
              </a:rPr>
              <a:t>●</a:t>
            </a:r>
            <a:r>
              <a:rPr lang="ja-JP" altLang="en-US" sz="1500" b="1" dirty="0"/>
              <a:t> </a:t>
            </a:r>
            <a:r>
              <a:rPr lang="en-US" sz="1500" b="1" dirty="0"/>
              <a:t>90</a:t>
            </a:r>
            <a:r>
              <a:rPr lang="en-US" altLang="ja-JP" sz="1500" b="1" dirty="0"/>
              <a:t>°</a:t>
            </a:r>
            <a:endParaRPr lang="en-US" sz="1500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414CB40-C205-4E23-C975-19FF9A1E6303}"/>
              </a:ext>
            </a:extLst>
          </p:cNvPr>
          <p:cNvSpPr txBox="1"/>
          <p:nvPr/>
        </p:nvSpPr>
        <p:spPr>
          <a:xfrm>
            <a:off x="10848309" y="2787313"/>
            <a:ext cx="93121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1500" b="1" dirty="0">
                <a:solidFill>
                  <a:srgbClr val="1F78B4"/>
                </a:solidFill>
              </a:rPr>
              <a:t>＋</a:t>
            </a:r>
            <a:r>
              <a:rPr lang="ja-JP" altLang="en-US" sz="1500" b="1" dirty="0"/>
              <a:t> </a:t>
            </a:r>
            <a:r>
              <a:rPr lang="en-US" altLang="ja-JP" sz="1500" b="1" dirty="0"/>
              <a:t>10</a:t>
            </a:r>
            <a:r>
              <a:rPr lang="en-US" sz="1500" b="1" dirty="0"/>
              <a:t>0</a:t>
            </a:r>
            <a:r>
              <a:rPr lang="en-US" altLang="ja-JP" sz="1500" b="1" dirty="0"/>
              <a:t>°</a:t>
            </a:r>
            <a:endParaRPr lang="en-US" sz="1500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C852D35-6385-58E9-771D-AE75A20C72E0}"/>
              </a:ext>
            </a:extLst>
          </p:cNvPr>
          <p:cNvSpPr txBox="1"/>
          <p:nvPr/>
        </p:nvSpPr>
        <p:spPr>
          <a:xfrm>
            <a:off x="10041010" y="4354294"/>
            <a:ext cx="8377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500" b="1" dirty="0">
                <a:solidFill>
                  <a:srgbClr val="E41A1C"/>
                </a:solidFill>
              </a:rPr>
              <a:t>●</a:t>
            </a:r>
            <a:r>
              <a:rPr lang="ja-JP" altLang="en-US" sz="1500" b="1" dirty="0"/>
              <a:t> </a:t>
            </a:r>
            <a:r>
              <a:rPr lang="en-US" sz="1500" b="1" dirty="0"/>
              <a:t>90</a:t>
            </a:r>
            <a:r>
              <a:rPr lang="en-US" altLang="ja-JP" sz="1500" b="1" dirty="0"/>
              <a:t>°</a:t>
            </a:r>
            <a:endParaRPr lang="en-US" sz="1500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C9E8FFA-9319-07A9-30DB-22FBF91B64E3}"/>
              </a:ext>
            </a:extLst>
          </p:cNvPr>
          <p:cNvSpPr txBox="1"/>
          <p:nvPr/>
        </p:nvSpPr>
        <p:spPr>
          <a:xfrm>
            <a:off x="10794544" y="4352590"/>
            <a:ext cx="98854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1500" b="1" dirty="0">
                <a:solidFill>
                  <a:srgbClr val="E83E40"/>
                </a:solidFill>
              </a:rPr>
              <a:t>＋</a:t>
            </a:r>
            <a:r>
              <a:rPr lang="ja-JP" altLang="en-US" sz="1500" b="1" dirty="0"/>
              <a:t> </a:t>
            </a:r>
            <a:r>
              <a:rPr lang="en-US" altLang="ja-JP" sz="1500" b="1" dirty="0"/>
              <a:t>10</a:t>
            </a:r>
            <a:r>
              <a:rPr lang="en-US" sz="1500" b="1" dirty="0"/>
              <a:t>0</a:t>
            </a:r>
            <a:r>
              <a:rPr lang="en-US" altLang="ja-JP" sz="1500" b="1" dirty="0"/>
              <a:t>°</a:t>
            </a:r>
            <a:endParaRPr lang="en-US" sz="15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88275334-5C8D-9F86-6932-E8CBCBE1E9D5}"/>
                  </a:ext>
                </a:extLst>
              </p:cNvPr>
              <p:cNvSpPr txBox="1"/>
              <p:nvPr/>
            </p:nvSpPr>
            <p:spPr>
              <a:xfrm>
                <a:off x="1352159" y="411659"/>
                <a:ext cx="1988177" cy="7503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sz="2200" b="1" i="1" baseline="-25000" smtClean="0">
                              <a:latin typeface="Cambria Math" panose="02040503050406030204" pitchFamily="18" charset="0"/>
                            </a:rPr>
                            <m:t>𝒎𝒂𝒙</m:t>
                          </m:r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</m:sub>
                            <m:sup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bSup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den>
                      </m:f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sz="2200" b="1" i="1" baseline="-2500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200" b="1" baseline="-25000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88275334-5C8D-9F86-6932-E8CBCBE1E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159" y="411659"/>
                <a:ext cx="1988177" cy="7503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43DEFC6-EF4B-0B39-3865-AA7D81576470}"/>
              </a:ext>
            </a:extLst>
          </p:cNvPr>
          <p:cNvSpPr/>
          <p:nvPr/>
        </p:nvSpPr>
        <p:spPr>
          <a:xfrm>
            <a:off x="9971440" y="2544055"/>
            <a:ext cx="1716442" cy="1334209"/>
          </a:xfrm>
          <a:prstGeom prst="rect">
            <a:avLst/>
          </a:prstGeom>
          <a:noFill/>
          <a:ln w="19050">
            <a:solidFill>
              <a:srgbClr val="1F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/>
          </a:p>
        </p:txBody>
      </p:sp>
    </p:spTree>
    <p:extLst>
      <p:ext uri="{BB962C8B-B14F-4D97-AF65-F5344CB8AC3E}">
        <p14:creationId xmlns:p14="http://schemas.microsoft.com/office/powerpoint/2010/main" val="3883242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5B07186-1E75-0794-13DC-65ED15C19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68" y="1115232"/>
            <a:ext cx="4724809" cy="377984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343ABF0-BAE2-BE4F-4553-9489A8A80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4442" y="1417212"/>
            <a:ext cx="1963082" cy="292633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61B1713-4553-9A78-9D70-DD61F2FC0623}"/>
              </a:ext>
            </a:extLst>
          </p:cNvPr>
          <p:cNvSpPr txBox="1"/>
          <p:nvPr/>
        </p:nvSpPr>
        <p:spPr>
          <a:xfrm>
            <a:off x="0" y="1041572"/>
            <a:ext cx="4409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(a)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D3469B6-CE67-D217-1AF0-9B26E3589ADE}"/>
              </a:ext>
            </a:extLst>
          </p:cNvPr>
          <p:cNvSpPr txBox="1"/>
          <p:nvPr/>
        </p:nvSpPr>
        <p:spPr>
          <a:xfrm>
            <a:off x="5191527" y="1048118"/>
            <a:ext cx="4409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(b)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820CD996-038A-A4B1-8F19-2672CA1D0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527" y="1294563"/>
            <a:ext cx="4882816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375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3B062-6C49-344E-84AB-48EEFED01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74204807-F0B4-4E40-021E-D915ACFAF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458" y="1110277"/>
            <a:ext cx="12113802" cy="385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657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AA5B46C-3EFB-77B5-C3F9-C7172E5D5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8947" y="4385849"/>
            <a:ext cx="2162175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F89E1B9-D384-2CC4-D873-642B21BD5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0" t="60362" r="1533" b="939"/>
          <a:stretch>
            <a:fillRect/>
          </a:stretch>
        </p:blipFill>
        <p:spPr>
          <a:xfrm>
            <a:off x="8310" y="935718"/>
            <a:ext cx="3965714" cy="181886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3B0653D-7A9D-8892-835C-0DC02FBF65DE}"/>
              </a:ext>
            </a:extLst>
          </p:cNvPr>
          <p:cNvSpPr txBox="1"/>
          <p:nvPr/>
        </p:nvSpPr>
        <p:spPr>
          <a:xfrm>
            <a:off x="0" y="2136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>
                <a:latin typeface="Arial]"/>
              </a:rPr>
              <a:t>Pre-stimulus</a:t>
            </a:r>
            <a:r>
              <a:rPr lang="ja-JP" altLang="en-US" sz="1600" b="1" dirty="0">
                <a:latin typeface="Arial]"/>
              </a:rPr>
              <a:t> </a:t>
            </a:r>
            <a:r>
              <a:rPr lang="en-US" altLang="ja-JP" sz="1600" b="1" dirty="0">
                <a:latin typeface="Arial]"/>
              </a:rPr>
              <a:t>EEG α power (proxy for baseline neural excitability) predicts visual awareness but not perceptual sensitivity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A2F7BD3-5FFF-2C69-07D6-0274E919B954}"/>
              </a:ext>
            </a:extLst>
          </p:cNvPr>
          <p:cNvSpPr txBox="1"/>
          <p:nvPr/>
        </p:nvSpPr>
        <p:spPr>
          <a:xfrm>
            <a:off x="16856" y="571404"/>
            <a:ext cx="3965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CW vs. CCW discrimination with visibility rating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EEFB507-DDA3-248D-E90C-389CF2D3A1EC}"/>
              </a:ext>
            </a:extLst>
          </p:cNvPr>
          <p:cNvSpPr txBox="1"/>
          <p:nvPr/>
        </p:nvSpPr>
        <p:spPr>
          <a:xfrm>
            <a:off x="11416157" y="446405"/>
            <a:ext cx="7577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500" b="1" dirty="0"/>
              <a:t>High α</a:t>
            </a:r>
            <a:endParaRPr lang="en-US" sz="1500" b="1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EB25904-B727-74EA-1E68-57575D494267}"/>
              </a:ext>
            </a:extLst>
          </p:cNvPr>
          <p:cNvSpPr txBox="1"/>
          <p:nvPr/>
        </p:nvSpPr>
        <p:spPr>
          <a:xfrm>
            <a:off x="11030476" y="462607"/>
            <a:ext cx="77136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500" b="1" dirty="0">
                <a:solidFill>
                  <a:srgbClr val="E41A1C"/>
                </a:solidFill>
              </a:rPr>
              <a:t>●</a:t>
            </a:r>
            <a:r>
              <a:rPr lang="ja-JP" altLang="en-US" sz="1500" b="1" dirty="0">
                <a:solidFill>
                  <a:srgbClr val="1F78B4"/>
                </a:solidFill>
              </a:rPr>
              <a:t> </a:t>
            </a:r>
            <a:r>
              <a:rPr lang="en-US" altLang="ja-JP" sz="1500" b="1" dirty="0">
                <a:solidFill>
                  <a:srgbClr val="E41A1C"/>
                </a:solidFill>
              </a:rPr>
              <a:t>+</a:t>
            </a:r>
            <a:endParaRPr lang="en-US" sz="1500" b="1" dirty="0">
              <a:solidFill>
                <a:srgbClr val="E41A1C"/>
              </a:solidFill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8C343E2-93CE-8EF7-689F-BC096B73673E}"/>
              </a:ext>
            </a:extLst>
          </p:cNvPr>
          <p:cNvSpPr/>
          <p:nvPr/>
        </p:nvSpPr>
        <p:spPr>
          <a:xfrm>
            <a:off x="11016608" y="446411"/>
            <a:ext cx="1157325" cy="323159"/>
          </a:xfrm>
          <a:prstGeom prst="rect">
            <a:avLst/>
          </a:prstGeom>
          <a:noFill/>
          <a:ln w="19050">
            <a:solidFill>
              <a:srgbClr val="E41A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EC5CA34-88D0-89E1-8CB8-7854A470DC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91" t="36377" r="45468" b="20724"/>
          <a:stretch>
            <a:fillRect/>
          </a:stretch>
        </p:blipFill>
        <p:spPr>
          <a:xfrm>
            <a:off x="5980779" y="316196"/>
            <a:ext cx="3707297" cy="2941982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D938971-CFA2-846B-7326-07B1B2AEE864}"/>
              </a:ext>
            </a:extLst>
          </p:cNvPr>
          <p:cNvSpPr txBox="1"/>
          <p:nvPr/>
        </p:nvSpPr>
        <p:spPr>
          <a:xfrm>
            <a:off x="9802026" y="1021731"/>
            <a:ext cx="240421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300" b="1" dirty="0">
                <a:latin typeface="Ariel"/>
                <a:cs typeface="Arial" panose="020B0604020202020204" pitchFamily="34" charset="0"/>
              </a:rPr>
              <a:t>More points exceed the orange visibility plane under low α</a:t>
            </a:r>
          </a:p>
          <a:p>
            <a:endParaRPr lang="en-US" altLang="ja-JP" sz="500" b="1" dirty="0">
              <a:latin typeface="Ariel"/>
              <a:cs typeface="Arial" panose="020B0604020202020204" pitchFamily="34" charset="0"/>
            </a:endParaRPr>
          </a:p>
          <a:p>
            <a:r>
              <a:rPr lang="en-US" sz="1300" b="1" dirty="0">
                <a:latin typeface="Ariel"/>
              </a:rPr>
              <a:t>Awareness is determined along the dimension separate from sensitivity </a:t>
            </a:r>
            <a:endParaRPr lang="en-US" altLang="ja-JP" sz="1300" b="1" dirty="0">
              <a:latin typeface="Ariel"/>
              <a:cs typeface="Arial" panose="020B0604020202020204" pitchFamily="34" charset="0"/>
            </a:endParaRPr>
          </a:p>
          <a:p>
            <a:endParaRPr lang="en-US" sz="500" b="1" dirty="0">
              <a:latin typeface="Ariel"/>
            </a:endParaRPr>
          </a:p>
          <a:p>
            <a:r>
              <a:rPr lang="en-US" sz="1300" b="1" dirty="0">
                <a:latin typeface="Ariel"/>
              </a:rPr>
              <a:t>This explains how strong phenomenology can arise decoupled from sensitivity</a:t>
            </a:r>
            <a:endParaRPr lang="en-US" sz="1300" b="1" dirty="0">
              <a:latin typeface="Ariel"/>
              <a:cs typeface="Arial" panose="020B0604020202020204" pitchFamily="34" charset="0"/>
            </a:endParaRPr>
          </a:p>
        </p:txBody>
      </p:sp>
      <p:pic>
        <p:nvPicPr>
          <p:cNvPr id="33" name="図 32">
            <a:extLst>
              <a:ext uri="{FF2B5EF4-FFF2-40B4-BE49-F238E27FC236}">
                <a16:creationId xmlns:a16="http://schemas.microsoft.com/office/drawing/2014/main" id="{DF2E97B8-6C54-5005-1D55-D297F3AB4E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300"/>
          <a:stretch>
            <a:fillRect/>
          </a:stretch>
        </p:blipFill>
        <p:spPr>
          <a:xfrm>
            <a:off x="4024680" y="316196"/>
            <a:ext cx="1994909" cy="1331007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2A92BFEC-E3E1-C9FF-DAF7-5FBD895DDCF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9399"/>
          <a:stretch>
            <a:fillRect/>
          </a:stretch>
        </p:blipFill>
        <p:spPr>
          <a:xfrm>
            <a:off x="4024679" y="1689234"/>
            <a:ext cx="1994909" cy="1615110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56D7787-E3B7-A20A-7547-5D821051FCD2}"/>
              </a:ext>
            </a:extLst>
          </p:cNvPr>
          <p:cNvSpPr txBox="1"/>
          <p:nvPr/>
        </p:nvSpPr>
        <p:spPr>
          <a:xfrm>
            <a:off x="10112989" y="446405"/>
            <a:ext cx="7616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500" b="1" dirty="0"/>
              <a:t>Low α</a:t>
            </a:r>
            <a:endParaRPr lang="en-US" sz="1500" b="1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4587E2E-0F0F-E9FF-ABFE-84BC45CCE63E}"/>
              </a:ext>
            </a:extLst>
          </p:cNvPr>
          <p:cNvSpPr txBox="1"/>
          <p:nvPr/>
        </p:nvSpPr>
        <p:spPr>
          <a:xfrm>
            <a:off x="9727308" y="462607"/>
            <a:ext cx="77136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500" b="1" dirty="0">
                <a:solidFill>
                  <a:srgbClr val="1F78B4"/>
                </a:solidFill>
              </a:rPr>
              <a:t>● </a:t>
            </a:r>
            <a:r>
              <a:rPr lang="en-US" altLang="ja-JP" sz="1500" b="1" dirty="0">
                <a:solidFill>
                  <a:srgbClr val="1F78B4"/>
                </a:solidFill>
              </a:rPr>
              <a:t>+</a:t>
            </a:r>
            <a:endParaRPr lang="en-US" sz="1500" b="1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5D44F8E9-8CA1-13E0-DDC1-2AA03CA4FEE7}"/>
              </a:ext>
            </a:extLst>
          </p:cNvPr>
          <p:cNvSpPr/>
          <p:nvPr/>
        </p:nvSpPr>
        <p:spPr>
          <a:xfrm>
            <a:off x="9713440" y="446411"/>
            <a:ext cx="1157325" cy="323159"/>
          </a:xfrm>
          <a:prstGeom prst="rect">
            <a:avLst/>
          </a:prstGeom>
          <a:noFill/>
          <a:ln w="19050">
            <a:solidFill>
              <a:srgbClr val="1F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/>
          </a:p>
        </p:txBody>
      </p:sp>
    </p:spTree>
    <p:extLst>
      <p:ext uri="{BB962C8B-B14F-4D97-AF65-F5344CB8AC3E}">
        <p14:creationId xmlns:p14="http://schemas.microsoft.com/office/powerpoint/2010/main" val="607429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113</Words>
  <Application>Microsoft Office PowerPoint</Application>
  <PresentationFormat>ワイド画面</PresentationFormat>
  <Paragraphs>25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Arial]</vt:lpstr>
      <vt:lpstr>Ariel</vt:lpstr>
      <vt:lpstr>Aptos</vt:lpstr>
      <vt:lpstr>Aptos Display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Kiyofumi Miyoshi</dc:creator>
  <cp:lastModifiedBy>Kiyofumi Miyoshi</cp:lastModifiedBy>
  <cp:revision>28</cp:revision>
  <dcterms:created xsi:type="dcterms:W3CDTF">2026-03-21T07:03:18Z</dcterms:created>
  <dcterms:modified xsi:type="dcterms:W3CDTF">2026-03-27T03:38:36Z</dcterms:modified>
</cp:coreProperties>
</file>